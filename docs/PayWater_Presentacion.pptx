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65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228600" cy="22860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PayWater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para Juntas Administradoras de Acueductos Rurales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de Panamá  ·  Decreto Ejecutivo N° 1839 del MINSA  ·  2026</a:t>
            </a:r>
            <a:endParaRPr lang="en-US" sz="1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BA63D2-CD63-F595-13AC-B58CFF7B4B16}"/>
              </a:ext>
            </a:extLst>
          </p:cNvPr>
          <p:cNvSpPr txBox="1"/>
          <p:nvPr/>
        </p:nvSpPr>
        <p:spPr>
          <a:xfrm>
            <a:off x="475861" y="5671066"/>
            <a:ext cx="5327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Grupo: Celeste Pérez, </a:t>
            </a:r>
            <a:r>
              <a:rPr lang="es-MX" dirty="0" err="1">
                <a:solidFill>
                  <a:schemeClr val="bg1"/>
                </a:solidFill>
              </a:rPr>
              <a:t>Adrian</a:t>
            </a:r>
            <a:r>
              <a:rPr lang="es-MX" dirty="0">
                <a:solidFill>
                  <a:schemeClr val="bg1"/>
                </a:solidFill>
              </a:rPr>
              <a:t> Pérez, </a:t>
            </a:r>
            <a:r>
              <a:rPr lang="es-MX" dirty="0" err="1">
                <a:solidFill>
                  <a:schemeClr val="bg1"/>
                </a:solidFill>
              </a:rPr>
              <a:t>Josue</a:t>
            </a:r>
            <a:r>
              <a:rPr lang="es-MX" dirty="0">
                <a:solidFill>
                  <a:schemeClr val="bg1"/>
                </a:solidFill>
              </a:rPr>
              <a:t> Flores</a:t>
            </a:r>
            <a:endParaRPr lang="es-PA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del Proyecto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11396"/>
            <a:ext cx="10972800" cy="196689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Panamá cuenta con más de 2,000 Juntas Administradoras de Acueductos Rurales (JAAR) reconocidas por el MINSA, que garantizan el acceso al agua potable a cientos de comunidades rurales.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organizaciones operan bajo el Decreto Ejecutivo N° 1839, que establece obligaciones en materia de registro contable, cobros y rendición de cuentas ante el MINSA.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mayoría gestiona su operación de forma manual (cuadernos, hojas de cálculo sin estructura), generando opacidad financiera, pérdida de información y conflictos comunitarios.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4B509D4-B008-15DA-02F3-E7030FF4957A}"/>
              </a:ext>
            </a:extLst>
          </p:cNvPr>
          <p:cNvSpPr/>
          <p:nvPr/>
        </p:nvSpPr>
        <p:spPr>
          <a:xfrm>
            <a:off x="548640" y="3643605"/>
            <a:ext cx="10972800" cy="167484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herramientas digitales diseñadas para conectividad limitada agrava el problema en zonas rurales panameñas.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PayWater propone una Aplicación Web Progresiva (PWA) offline-first que digitaliza cobros, gastos, jornales comunitarios, comunicados y reportes para el MINSA.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contempla cuatro roles: Administrador, Cobrador, Auditor MINSA y Cliente/Abonado, asegurando transparencia, trazabilidad y continuidad operativa sin internet.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9496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" cy="1417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170432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 Vigente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Ejecutivo N° 1839 del MINSA regula la constitución, funcionamiento y supervisión de las JAAR, pero sin herramientas digitales de soporte.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39496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09728" cy="1417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770632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2,000 JAAR Activas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Panamá cuenta con una red extensa de juntas comunitarias que administran acueductos rurales, muchas en zonas sin cobertura estable de datos móviles.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539496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109728" cy="1417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64008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4370832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Predominante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77316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juntas lleva registros en cuadernos o planillas físicas, dificultando la auditoría, transparencia y rendición de cuentas ante el MINSA.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097280"/>
            <a:ext cx="539496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6355080" y="1097280"/>
            <a:ext cx="109728" cy="1417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653796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76872" y="1170432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Digital Rural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157276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existentes requieren conexión permanente a internet, haciéndolas inviables para comunidades rurales con conectividad intermitente.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697480"/>
            <a:ext cx="539496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Shape 24"/>
          <p:cNvSpPr/>
          <p:nvPr/>
        </p:nvSpPr>
        <p:spPr>
          <a:xfrm>
            <a:off x="6355080" y="2697480"/>
            <a:ext cx="109728" cy="1417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6537960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76872" y="2770632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por Morosidad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317296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registros claros genera disputas entre abonados y juntas respecto a pagos, multas y jornales, afectando la convivencia comunitaria.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4297680"/>
            <a:ext cx="5394960" cy="14173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1" name="Shape 29"/>
          <p:cNvSpPr/>
          <p:nvPr/>
        </p:nvSpPr>
        <p:spPr>
          <a:xfrm>
            <a:off x="6355080" y="4297680"/>
            <a:ext cx="109728" cy="1417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2" name="Text 30"/>
          <p:cNvSpPr/>
          <p:nvPr/>
        </p:nvSpPr>
        <p:spPr>
          <a:xfrm>
            <a:off x="653796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76872" y="4370832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las PWA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477316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madurez de las Progressive Web Apps permite crear aplicaciones robustas, offline-first, sin necesidad de instalación en tiendas de aplicaciones.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15568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" cy="1188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640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la gestión de cobros y pagos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offline/online para pagos mensuales, parciales y adelantados con comprobantes digitales automáticos.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1115568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109728" cy="1188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640080" y="2523744"/>
            <a:ext cx="640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542032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transparencia financiera y control de gastos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980944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caja con ingresos/egresos, saldo disponible y reportes auditables para la junta y el MINSA.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1115568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109728" cy="1188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640080" y="3877056"/>
            <a:ext cx="640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895344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gestión de jornales comunitarios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334256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trabajos, registrar asistencia, gestionar sustitutos, aplicar multas por inasistencia de forma digital.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157216"/>
            <a:ext cx="1115568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Shape 19"/>
          <p:cNvSpPr/>
          <p:nvPr/>
        </p:nvSpPr>
        <p:spPr>
          <a:xfrm>
            <a:off x="457200" y="5157216"/>
            <a:ext cx="109728" cy="1188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2" name="Text 20"/>
          <p:cNvSpPr/>
          <p:nvPr/>
        </p:nvSpPr>
        <p:spPr>
          <a:xfrm>
            <a:off x="640080" y="5230368"/>
            <a:ext cx="640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524865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con requerimientos regulatorios del MINSA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5687568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automáticos en PDF y Excel según el Decreto N° 1839, reduciendo la carga administrativa de las juntas.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15568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" cy="1188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640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con continuidad en zonas sin conectividad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PWA offline-first con almacenamiento local y sincronización automática al recuperar la conectividad.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1115568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109728" cy="1188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640080" y="2523744"/>
            <a:ext cx="640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542032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la comunicación comunitaria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980944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avisos para convocatorias, cortes programados, alertas de morosidad y noticias relevantes.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1115568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109728" cy="1188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640080" y="3877056"/>
            <a:ext cx="640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895344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inteligencia artificial para gestión predictiva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334256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 que detecta patrones de morosidad, genera predicciones de recaudación y emite alertas tempranas.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228600" cy="2011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PayWater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Claras, Agua Segura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558</Words>
  <Application>Microsoft Office PowerPoint</Application>
  <PresentationFormat>Panorámica</PresentationFormat>
  <Paragraphs>65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PayWater</dc:title>
  <dc:subject>PptxGenJS Presentation</dc:subject>
  <dc:creator>JAAR Panama</dc:creator>
  <cp:lastModifiedBy>Celeste Pérez</cp:lastModifiedBy>
  <cp:revision>3</cp:revision>
  <dcterms:created xsi:type="dcterms:W3CDTF">2026-05-21T02:16:03Z</dcterms:created>
  <dcterms:modified xsi:type="dcterms:W3CDTF">2026-05-21T02:21:14Z</dcterms:modified>
</cp:coreProperties>
</file>